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5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4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9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23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6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7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1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2D452-3213-4C40-BD8E-9343373075B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13C9B-328C-4EA1-9F01-838BE4D09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2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1285" y="144379"/>
            <a:ext cx="9304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/>
              <a:t>Microscopic Image Dataset of Plant-  Parasitic Nematodes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09936" y="1588167"/>
            <a:ext cx="16523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/>
              <a:t>CSE 475</a:t>
            </a:r>
          </a:p>
          <a:p>
            <a:pPr algn="ctr"/>
            <a:r>
              <a:rPr lang="en-GB" sz="2000" dirty="0" smtClean="0"/>
              <a:t>Sec:02</a:t>
            </a:r>
          </a:p>
          <a:p>
            <a:pPr algn="ctr"/>
            <a:r>
              <a:rPr lang="en-GB" sz="2000" dirty="0" smtClean="0"/>
              <a:t>Group:04</a:t>
            </a: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DFAD4-D244-4234-9CB0-2A1D8ECA8CB9}"/>
              </a:ext>
            </a:extLst>
          </p:cNvPr>
          <p:cNvSpPr/>
          <p:nvPr/>
        </p:nvSpPr>
        <p:spPr>
          <a:xfrm>
            <a:off x="491578" y="3653717"/>
            <a:ext cx="5941306" cy="25385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DFAD4-D244-4234-9CB0-2A1D8ECA8CB9}"/>
              </a:ext>
            </a:extLst>
          </p:cNvPr>
          <p:cNvSpPr/>
          <p:nvPr/>
        </p:nvSpPr>
        <p:spPr>
          <a:xfrm>
            <a:off x="6807803" y="3662706"/>
            <a:ext cx="4877674" cy="2529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4040516"/>
            <a:ext cx="5823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Parvaze Mahmud </a:t>
            </a:r>
            <a:r>
              <a:rPr lang="en-US" sz="2400" dirty="0" err="1"/>
              <a:t>Bitto</a:t>
            </a:r>
            <a:r>
              <a:rPr lang="en-US" sz="2400" dirty="0"/>
              <a:t> </a:t>
            </a:r>
            <a:r>
              <a:rPr lang="en-US" sz="2400" dirty="0" smtClean="0"/>
              <a:t>           2022-1-60-133 </a:t>
            </a:r>
          </a:p>
          <a:p>
            <a:r>
              <a:rPr lang="en-US" sz="2400" dirty="0" smtClean="0"/>
              <a:t>Sadia </a:t>
            </a:r>
            <a:r>
              <a:rPr lang="en-US" sz="2400" dirty="0"/>
              <a:t>Afrin </a:t>
            </a:r>
            <a:r>
              <a:rPr lang="en-US" sz="2400" dirty="0" err="1"/>
              <a:t>Anamika</a:t>
            </a:r>
            <a:r>
              <a:rPr lang="en-US" sz="2400" dirty="0"/>
              <a:t> </a:t>
            </a:r>
            <a:r>
              <a:rPr lang="en-US" sz="2400" dirty="0" smtClean="0"/>
              <a:t>                2022-1-60-100 </a:t>
            </a:r>
          </a:p>
          <a:p>
            <a:r>
              <a:rPr lang="en-US" sz="2400" dirty="0" err="1" smtClean="0"/>
              <a:t>Hridoy</a:t>
            </a:r>
            <a:r>
              <a:rPr lang="en-US" sz="2400" dirty="0" smtClean="0"/>
              <a:t> </a:t>
            </a:r>
            <a:r>
              <a:rPr lang="en-US" sz="2400" dirty="0" err="1"/>
              <a:t>Ahmmad</a:t>
            </a:r>
            <a:r>
              <a:rPr lang="en-US" sz="2400" dirty="0"/>
              <a:t> </a:t>
            </a:r>
            <a:r>
              <a:rPr lang="en-US" sz="2400" dirty="0" err="1"/>
              <a:t>Akash</a:t>
            </a:r>
            <a:r>
              <a:rPr lang="en-US" sz="2400" dirty="0"/>
              <a:t> </a:t>
            </a:r>
            <a:r>
              <a:rPr lang="en-US" sz="2400" dirty="0" smtClean="0"/>
              <a:t>           2022-1-60-299 </a:t>
            </a:r>
          </a:p>
          <a:p>
            <a:r>
              <a:rPr lang="en-US" sz="2400" dirty="0" err="1" smtClean="0"/>
              <a:t>Sayma</a:t>
            </a:r>
            <a:r>
              <a:rPr lang="en-US" sz="2400" dirty="0" smtClean="0"/>
              <a:t> </a:t>
            </a:r>
            <a:r>
              <a:rPr lang="en-US" sz="2400" dirty="0"/>
              <a:t>Sultana </a:t>
            </a:r>
            <a:r>
              <a:rPr lang="en-US" sz="2400" dirty="0" smtClean="0"/>
              <a:t>                          2022-1-60-405 </a:t>
            </a:r>
          </a:p>
          <a:p>
            <a:r>
              <a:rPr lang="en-US" sz="2400" dirty="0" smtClean="0"/>
              <a:t>Md</a:t>
            </a:r>
            <a:r>
              <a:rPr lang="en-US" sz="2400" dirty="0"/>
              <a:t>. </a:t>
            </a:r>
            <a:r>
              <a:rPr lang="en-US" sz="2400" dirty="0" err="1" smtClean="0"/>
              <a:t>Momtajur</a:t>
            </a:r>
            <a:r>
              <a:rPr lang="en-US" sz="2400" dirty="0" smtClean="0"/>
              <a:t> </a:t>
            </a:r>
            <a:r>
              <a:rPr lang="en-US" sz="2400" dirty="0"/>
              <a:t>Rahman </a:t>
            </a:r>
            <a:r>
              <a:rPr lang="en-US" sz="2400" dirty="0" smtClean="0"/>
              <a:t>          2022-1-60-370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962273" y="4040516"/>
            <a:ext cx="45399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/>
              <a:t>Dr.</a:t>
            </a:r>
            <a:r>
              <a:rPr lang="en-GB" sz="2400" b="1" dirty="0"/>
              <a:t> </a:t>
            </a:r>
            <a:r>
              <a:rPr lang="en-GB" sz="2400" b="1" dirty="0" err="1"/>
              <a:t>Raihan</a:t>
            </a:r>
            <a:r>
              <a:rPr lang="en-GB" sz="2400" b="1" dirty="0"/>
              <a:t> </a:t>
            </a:r>
            <a:r>
              <a:rPr lang="en-GB" sz="2400" b="1" dirty="0" err="1"/>
              <a:t>Ul</a:t>
            </a:r>
            <a:r>
              <a:rPr lang="en-GB" sz="2400" b="1" dirty="0"/>
              <a:t> Islam </a:t>
            </a:r>
            <a:endParaRPr lang="en-GB" sz="2400" b="1" dirty="0" smtClean="0"/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Associate Professor</a:t>
            </a:r>
            <a:endParaRPr lang="en-GB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GB" sz="2400" dirty="0" smtClean="0"/>
              <a:t>Dept</a:t>
            </a:r>
            <a:r>
              <a:rPr lang="en-GB" sz="2400" dirty="0"/>
              <a:t>. of Computer Science &amp; </a:t>
            </a:r>
            <a:r>
              <a:rPr lang="en-GB" sz="2400" dirty="0" smtClean="0"/>
              <a:t>Engineering</a:t>
            </a:r>
          </a:p>
          <a:p>
            <a:r>
              <a:rPr lang="en-GB" sz="2400" dirty="0" smtClean="0"/>
              <a:t>East </a:t>
            </a:r>
            <a:r>
              <a:rPr lang="en-GB" sz="2400" dirty="0"/>
              <a:t>West University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218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67" y="1316566"/>
            <a:ext cx="9423400" cy="5312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45467" y="304800"/>
            <a:ext cx="3969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smtClean="0">
                <a:solidFill>
                  <a:schemeClr val="accent6">
                    <a:lumMod val="50000"/>
                  </a:schemeClr>
                </a:solidFill>
              </a:rPr>
              <a:t>Dataset Summary</a:t>
            </a:r>
            <a:endParaRPr 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53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3" y="1148863"/>
            <a:ext cx="6768329" cy="54398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133" y="1773311"/>
            <a:ext cx="5147734" cy="4190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26999"/>
            <a:ext cx="30699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smtClean="0">
                <a:solidFill>
                  <a:schemeClr val="accent6">
                    <a:lumMod val="50000"/>
                  </a:schemeClr>
                </a:solidFill>
              </a:rPr>
              <a:t>Related Work</a:t>
            </a:r>
            <a:endParaRPr 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75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6" y="950026"/>
            <a:ext cx="5825775" cy="58007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9" y="950025"/>
            <a:ext cx="5655562" cy="5800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5029" y="142504"/>
            <a:ext cx="3681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smtClean="0">
                <a:solidFill>
                  <a:schemeClr val="accent6"/>
                </a:solidFill>
              </a:rPr>
              <a:t>Supervised Methods</a:t>
            </a:r>
            <a:endParaRPr lang="en-US" sz="32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0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09505" y="0"/>
            <a:ext cx="2368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smtClean="0">
                <a:solidFill>
                  <a:schemeClr val="accent6"/>
                </a:solidFill>
              </a:rPr>
              <a:t>SSL Methods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43" y="719192"/>
            <a:ext cx="8538359" cy="59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6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283" y="985837"/>
            <a:ext cx="9714016" cy="53555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38846" y="261258"/>
            <a:ext cx="4762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smtClean="0">
                <a:solidFill>
                  <a:schemeClr val="accent6">
                    <a:lumMod val="50000"/>
                  </a:schemeClr>
                </a:solidFill>
              </a:rPr>
              <a:t>Best SSL Method </a:t>
            </a:r>
            <a:r>
              <a:rPr lang="en-GB" sz="3200" b="1" dirty="0" err="1" smtClean="0">
                <a:solidFill>
                  <a:schemeClr val="accent6">
                    <a:lumMod val="50000"/>
                  </a:schemeClr>
                </a:solidFill>
              </a:rPr>
              <a:t>Train:Test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6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96" y="1488435"/>
            <a:ext cx="8774406" cy="46273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87835" y="522513"/>
            <a:ext cx="46163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Best </a:t>
            </a:r>
            <a:r>
              <a:rPr lang="en-GB" sz="3200" b="1" dirty="0" smtClean="0">
                <a:solidFill>
                  <a:schemeClr val="accent6">
                    <a:lumMod val="50000"/>
                  </a:schemeClr>
                </a:solidFill>
              </a:rPr>
              <a:t>Supervised </a:t>
            </a:r>
            <a:r>
              <a:rPr lang="en-GB" sz="3200" b="1" dirty="0" err="1" smtClean="0">
                <a:solidFill>
                  <a:schemeClr val="accent6">
                    <a:lumMod val="50000"/>
                  </a:schemeClr>
                </a:solidFill>
              </a:rPr>
              <a:t>Train:Test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02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59" y="1505135"/>
            <a:ext cx="8479045" cy="48362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73880" y="522515"/>
            <a:ext cx="3036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 smtClean="0">
                <a:solidFill>
                  <a:schemeClr val="accent6">
                    <a:lumMod val="50000"/>
                  </a:schemeClr>
                </a:solidFill>
              </a:rPr>
              <a:t>Best SSL Method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0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83" y="1185552"/>
            <a:ext cx="8881038" cy="54527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45446" y="239876"/>
            <a:ext cx="28911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Best </a:t>
            </a:r>
            <a:r>
              <a:rPr lang="en-GB" sz="3200" b="1" dirty="0" smtClean="0">
                <a:solidFill>
                  <a:schemeClr val="accent6">
                    <a:lumMod val="50000"/>
                  </a:schemeClr>
                </a:solidFill>
              </a:rPr>
              <a:t>Supervised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56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08" y="847230"/>
            <a:ext cx="3372910" cy="25134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606" y="847229"/>
            <a:ext cx="3372910" cy="25016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404" y="847229"/>
            <a:ext cx="3202209" cy="2513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09" y="3732932"/>
            <a:ext cx="3372910" cy="2513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606" y="3792878"/>
            <a:ext cx="3372910" cy="24535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6404" y="3792878"/>
            <a:ext cx="3202210" cy="24535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58888" y="141582"/>
            <a:ext cx="1996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>
                <a:solidFill>
                  <a:schemeClr val="accent6">
                    <a:lumMod val="50000"/>
                  </a:schemeClr>
                </a:solidFill>
              </a:rPr>
              <a:t>t-SNE Graph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9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70" y="1498023"/>
            <a:ext cx="3682075" cy="27414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68" y="1498023"/>
            <a:ext cx="3596800" cy="27414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327" y="1445451"/>
            <a:ext cx="3489119" cy="27414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84241" y="394257"/>
            <a:ext cx="19961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t-SNE Graph</a:t>
            </a:r>
            <a:endParaRPr 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648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387" y="356260"/>
            <a:ext cx="250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smtClean="0">
                <a:solidFill>
                  <a:schemeClr val="accent6">
                    <a:lumMod val="50000"/>
                  </a:schemeClr>
                </a:solidFill>
              </a:rPr>
              <a:t>Conclusion</a:t>
            </a:r>
            <a:endParaRPr lang="en-US" sz="4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88571" y="256172"/>
            <a:ext cx="816230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/>
              <a:t>Supervised </a:t>
            </a:r>
            <a:r>
              <a:rPr lang="en-US" dirty="0"/>
              <a:t>learning models achieved higher accuracy compared to SSL methods</a:t>
            </a:r>
            <a:r>
              <a:rPr lang="en-US" dirty="0" smtClean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/>
              <a:t> Performance improves significantly with higher training data (e.g., 90:10 split</a:t>
            </a:r>
            <a:r>
              <a:rPr lang="en-US" dirty="0" smtClean="0"/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Among supervised models, </a:t>
            </a:r>
            <a:r>
              <a:rPr lang="en-US" dirty="0" err="1"/>
              <a:t>MobileNet</a:t>
            </a:r>
            <a:r>
              <a:rPr lang="en-US" dirty="0"/>
              <a:t>/ViT-16 showed the best overall results</a:t>
            </a:r>
            <a:r>
              <a:rPr lang="en-US" dirty="0" smtClean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Among SSL methods, DINO provided the most stable performance.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SSL methods are effective when labeled data is limited</a:t>
            </a:r>
            <a:r>
              <a:rPr lang="en-US" dirty="0" smtClean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This study demonstrates the effectiveness of deep learning for microscopic </a:t>
            </a:r>
            <a:r>
              <a:rPr lang="en-US" dirty="0" smtClean="0"/>
              <a:t> nematode </a:t>
            </a:r>
            <a:r>
              <a:rPr lang="en-US" dirty="0"/>
              <a:t>classification.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018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30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143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Parvaze Mahmud</dc:creator>
  <cp:lastModifiedBy>Parvaze Mahmud</cp:lastModifiedBy>
  <cp:revision>11</cp:revision>
  <dcterms:created xsi:type="dcterms:W3CDTF">2026-04-21T19:56:35Z</dcterms:created>
  <dcterms:modified xsi:type="dcterms:W3CDTF">2026-04-21T22:24:29Z</dcterms:modified>
</cp:coreProperties>
</file>